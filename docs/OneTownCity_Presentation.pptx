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-201168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Segoe UI Semibold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Segoe UI Semibold"/>
              </a:rPr>
              <a:t>OneTownCity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BD0DF"/>
                </a:solidFill>
                <a:latin typeface="Segoe UI"/>
              </a:rPr>
              <a:t>A Hyperlocal Community Platform for Kuppam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51960"/>
            <a:ext cx="12801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6ABC0"/>
                </a:solidFill>
                <a:latin typeface="Segoe UI"/>
              </a:rPr>
              <a:t>Prepared for: Client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6ABC0"/>
                </a:solidFill>
                <a:latin typeface="Segoe UI"/>
              </a:rPr>
              <a:t>Prepared by: CraftLanee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What we'll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5798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Project overview &amp; who it serves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2666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The public experience — home, discovery &amp;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89534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All six listing types (Business, Property, Jobs, Events, News, Projects)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7640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Content submission &amp; multi-level approval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5798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NEW — category request workflow &amp; admin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718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02666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Super Admin dashboard, roles &amp;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0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9534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Community engagement &amp; trust/safety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 Semibold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7640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5EF"/>
                </a:solidFill>
                <a:latin typeface="Segoe UI"/>
              </a:rPr>
              <a:t>Technology stack &amp; deployment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6ABC0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4172A"/>
                </a:solidFill>
                <a:latin typeface="Segoe UI Semibold"/>
              </a:rPr>
              <a:t>One platform for everything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309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3E4258"/>
                </a:solidFill>
                <a:latin typeface="Segoe UI"/>
              </a:rPr>
              <a:t>OneTownCity is a hyperlocal community platform built for the town of Kuppam. It brings local businesses, real estate, jobs, events, news, and civic/infrastructure projects together in one place — giving residents a single trusted destination to discover what's happening locally, and giving local businesses and organizations a simple way to list themselves and reach the community.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3E4258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3E4258"/>
                </a:solidFill>
                <a:latin typeface="Segoe UI"/>
              </a:rPr>
              <a:t>The platform combines a public-facing directory and discovery experience with a self-service content submission system. Local businesses and residents submit their own listings, while a structured admin and moderation team reviews and approves everything before it goes live — keeping information accurate and trustworthy.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6811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EA580C"/>
                </a:solidFill>
                <a:latin typeface="Segoe UI Semibold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7A"/>
                </a:solidFill>
                <a:latin typeface="Segoe UI"/>
              </a:rPr>
              <a:t>Listing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534924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546811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EA580C"/>
                </a:solidFill>
                <a:latin typeface="Segoe UI Semibol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94360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7A"/>
                </a:solidFill>
                <a:latin typeface="Segoe UI"/>
              </a:rPr>
              <a:t>User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534924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546811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EA580C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94360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7A"/>
                </a:solidFill>
                <a:latin typeface="Segoe UI"/>
              </a:rPr>
              <a:t>Languages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34924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546811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EA580C"/>
                </a:solidFill>
                <a:latin typeface="Segoe UI Semibold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94360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7A"/>
                </a:solidFill>
                <a:latin typeface="Segoe UI"/>
              </a:rPr>
              <a:t>Moderated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3250" y="1463040"/>
            <a:ext cx="2664420" cy="4663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8154690" y="1554480"/>
            <a:ext cx="2481540" cy="4480560"/>
          </a:xfrm>
          <a:ln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ROLES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Five roles, one clear chain of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429000" cy="1965960"/>
          </a:xfrm>
          <a:prstGeom prst="roundRect">
            <a:avLst>
              <a:gd name="adj" fmla="val 7000"/>
            </a:avLst>
          </a:prstGeom>
          <a:solidFill>
            <a:srgbClr val="14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82296" cy="1965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BD0DF"/>
                </a:solidFill>
                <a:latin typeface="Segoe UI"/>
              </a:rPr>
              <a:t>Unrestricted, platform-wide access — oversees the entire system across all cities.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429000" cy="1965960"/>
          </a:xfrm>
          <a:prstGeom prst="roundRect">
            <a:avLst>
              <a:gd name="adj" fmla="val 7000"/>
            </a:avLst>
          </a:prstGeom>
          <a:solidFill>
            <a:srgbClr val="14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965960"/>
            <a:ext cx="82296" cy="1965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94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City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6517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BD0DF"/>
                </a:solidFill>
                <a:latin typeface="Segoe UI"/>
              </a:rPr>
              <a:t>Full authority over their assigned city. Publishes instantly, manages Sub Admins &amp; Content Providers.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429000" cy="1965960"/>
          </a:xfrm>
          <a:prstGeom prst="roundRect">
            <a:avLst>
              <a:gd name="adj" fmla="val 7000"/>
            </a:avLst>
          </a:prstGeom>
          <a:solidFill>
            <a:srgbClr val="14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965960"/>
            <a:ext cx="82296" cy="1965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945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Sub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BD0DF"/>
                </a:solidFill>
                <a:latin typeface="Segoe UI"/>
              </a:rPr>
              <a:t>A scoped set of responsibilities delegated by a City Admin — e.g. only Events or only Businesses.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3429000" cy="1965960"/>
          </a:xfrm>
          <a:prstGeom prst="roundRect">
            <a:avLst>
              <a:gd name="adj" fmla="val 7000"/>
            </a:avLst>
          </a:prstGeom>
          <a:solidFill>
            <a:srgbClr val="14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160520"/>
            <a:ext cx="82296" cy="1965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Content Provider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BD0DF"/>
                </a:solidFill>
                <a:latin typeface="Segoe UI"/>
              </a:rPr>
              <a:t>A business owner or resident approved to manage listings in the categories they applied for.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160520"/>
            <a:ext cx="3429000" cy="1965960"/>
          </a:xfrm>
          <a:prstGeom prst="roundRect">
            <a:avLst>
              <a:gd name="adj" fmla="val 7000"/>
            </a:avLst>
          </a:prstGeom>
          <a:solidFill>
            <a:srgbClr val="14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4160520"/>
            <a:ext cx="82296" cy="1965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389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Public Visitor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84632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BD0DF"/>
                </a:solidFill>
                <a:latin typeface="Segoe UI"/>
              </a:rPr>
              <a:t>Browses and searches; can like, comment, review, favorite, share — and apply to become a Content Provider.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6ABC0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CONTENT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72A"/>
                </a:solidFill>
                <a:latin typeface="Segoe UI Semibold"/>
              </a:rPr>
              <a:t>Six listing types, tailored to what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375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10311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72A"/>
                </a:solidFill>
                <a:latin typeface="Segoe UI Semibold"/>
              </a:rP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3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19 categories — restaurants, pharmacies, hospitals, schools, tourism &amp; more; GPS + working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10311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72A"/>
                </a:solidFill>
                <a:latin typeface="Segoe UI Semibold"/>
              </a:rPr>
              <a:t>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3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Sale, rent, apartment, villa, plot, commercial, PG — price, location, contact, Maps link.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3375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210311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974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72A"/>
                </a:solidFill>
                <a:latin typeface="Segoe UI Semibold"/>
              </a:rPr>
              <a:t>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06323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Company, title, regular or hourly type, salary, location, GPS, shift date/time for gigs.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40479"/>
            <a:ext cx="33375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406907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6343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72A"/>
                </a:solidFill>
                <a:latin typeface="Segoe UI Semibold"/>
              </a:rPr>
              <a:t>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2919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Title, date &amp; time, venue, description, contact &amp; Maps link.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840479"/>
            <a:ext cx="33375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406907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66343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72A"/>
                </a:solidFill>
                <a:latin typeface="Segoe UI Semibold"/>
              </a:rPr>
              <a:t>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2919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Article content, publish date, source, and photo.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840479"/>
            <a:ext cx="33375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75320" y="406907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66343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172A"/>
                </a:solidFill>
                <a:latin typeface="Segoe UI Semibold"/>
              </a:rPr>
              <a:t>Civic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029199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Status (planned/ongoing/completed), location, completion date, executing department.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7A"/>
                </a:solidFill>
                <a:latin typeface="Segoe UI"/>
              </a:rPr>
              <a:t>Every listing supports multi-image photo galleries, a “featured” flag, and active/inactive visibility control.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DISCOVERY &amp;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 Semibold"/>
              </a:rPr>
              <a:t>Finding anything in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Site-wide search — </a:t>
            </a:r>
            <a:r>
              <a:rPr sz="1400">
                <a:solidFill>
                  <a:srgbClr val="CBD0DF"/>
                </a:solidFill>
                <a:latin typeface="Segoe UI"/>
              </a:rPr>
              <a:t>filter by category and listing type from one search bar.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“Near me” GPS search — </a:t>
            </a:r>
            <a:r>
              <a:rPr sz="1400">
                <a:solidFill>
                  <a:srgbClr val="CBD0DF"/>
                </a:solidFill>
                <a:latin typeface="Segoe UI"/>
              </a:rPr>
              <a:t>surfaces nearby shops and repair services based on live location.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Precise location pinning — </a:t>
            </a:r>
            <a:r>
              <a:rPr sz="1400">
                <a:solidFill>
                  <a:srgbClr val="CBD0DF"/>
                </a:solidFill>
                <a:latin typeface="Segoe UI"/>
              </a:rPr>
              <a:t>every listing carries a Google Maps link, auto-derived from GPS or entered manually.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Structured working hours — </a:t>
            </a:r>
            <a:r>
              <a:rPr sz="1400">
                <a:solidFill>
                  <a:srgbClr val="CBD0DF"/>
                </a:solidFill>
                <a:latin typeface="Segoe UI"/>
              </a:rPr>
              <a:t>auto-formatted business hours, day-by-day.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Category browsing — </a:t>
            </a:r>
            <a:r>
              <a:rPr sz="1400">
                <a:solidFill>
                  <a:srgbClr val="CBD0DF"/>
                </a:solidFill>
                <a:latin typeface="Segoe UI"/>
              </a:rPr>
              <a:t>12+ curated categories on the homepage, each with live listing 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0747" y="777240"/>
            <a:ext cx="3272145" cy="5760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7302187" y="868680"/>
            <a:ext cx="3089265" cy="5577840"/>
          </a:xfr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BUSINESS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172A"/>
                </a:solidFill>
                <a:latin typeface="Segoe UI Semibold"/>
              </a:rPr>
              <a:t>Every local business, one searchable directory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E4258"/>
                </a:solidFill>
                <a:latin typeface="Segoe UI"/>
              </a:rPr>
              <a:t>The largest and most active listing type — 19 categories from restaurants to hospitals, each with contact details, hours, and photos.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708" y="1828800"/>
            <a:ext cx="3639704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busi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1609148" y="1920240"/>
            <a:ext cx="3456824" cy="4023360"/>
          </a:xfrm>
          <a:ln>
            <a:noFill/>
          </a:ln>
        </p:spPr>
      </p:pic>
      <p:sp>
        <p:nvSpPr>
          <p:cNvPr id="9" name="Rounded Rectangle 8"/>
          <p:cNvSpPr/>
          <p:nvPr/>
        </p:nvSpPr>
        <p:spPr>
          <a:xfrm>
            <a:off x="7595865" y="1828800"/>
            <a:ext cx="254763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business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7687305" y="1920240"/>
            <a:ext cx="2364750" cy="4023360"/>
          </a:xfr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4008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Business directory — filterable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Business detail — contact, map &amp; reviews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172A"/>
                </a:solidFill>
                <a:latin typeface="Segoe UI Semibold"/>
              </a:rPr>
              <a:t>Property listings for sale, rent &amp;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E4258"/>
                </a:solidFill>
                <a:latin typeface="Segoe UI"/>
              </a:rPr>
              <a:t>Apartments, villas, plots, commercial spaces and PGs — each with price, location, photos and a direct Maps link.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1498" y="1828800"/>
            <a:ext cx="3652124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1602938" y="1920240"/>
            <a:ext cx="3469244" cy="4023360"/>
          </a:xfrm>
          <a:ln>
            <a:noFill/>
          </a:ln>
        </p:spPr>
      </p:pic>
      <p:sp>
        <p:nvSpPr>
          <p:cNvPr id="9" name="Rounded Rectangle 8"/>
          <p:cNvSpPr/>
          <p:nvPr/>
        </p:nvSpPr>
        <p:spPr>
          <a:xfrm>
            <a:off x="7556469" y="1828800"/>
            <a:ext cx="2626422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property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7647909" y="1920240"/>
            <a:ext cx="2443542" cy="4023360"/>
          </a:xfr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4008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Property listing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Property detail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JOBS &amp;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172A"/>
                </a:solidFill>
                <a:latin typeface="Segoe UI Semibold"/>
              </a:rPr>
              <a:t>Local opportunities and happenings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E4258"/>
                </a:solidFill>
                <a:latin typeface="Segoe UI"/>
              </a:rPr>
              <a:t>Regular and hourly-gig job postings with salary &amp; shift details, alongside a live calendar of community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1959" y="1828800"/>
            <a:ext cx="2411202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2223399" y="1920240"/>
            <a:ext cx="2228322" cy="4023360"/>
          </a:xfrm>
          <a:ln>
            <a:noFill/>
          </a:ln>
        </p:spPr>
      </p:pic>
      <p:sp>
        <p:nvSpPr>
          <p:cNvPr id="9" name="Rounded Rectangle 8"/>
          <p:cNvSpPr/>
          <p:nvPr/>
        </p:nvSpPr>
        <p:spPr>
          <a:xfrm>
            <a:off x="7021527" y="1828800"/>
            <a:ext cx="3696305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7112967" y="1920240"/>
            <a:ext cx="3513425" cy="4023360"/>
          </a:xfr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4008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Job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Events listing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NEWS &amp;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172A"/>
                </a:solidFill>
                <a:latin typeface="Segoe UI Semibold"/>
              </a:rPr>
              <a:t>Keeping residents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E4258"/>
                </a:solidFill>
                <a:latin typeface="Segoe UI"/>
              </a:rPr>
              <a:t>Local announcements and civic news, plus a always-available contact form for resident enquiries.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0795" y="1828800"/>
            <a:ext cx="3493530" cy="42062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n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1682235" y="1920240"/>
            <a:ext cx="3310650" cy="4023359"/>
          </a:xfrm>
          <a:ln>
            <a:noFill/>
          </a:ln>
        </p:spPr>
      </p:pic>
      <p:sp>
        <p:nvSpPr>
          <p:cNvPr id="9" name="Rounded Rectangle 8"/>
          <p:cNvSpPr/>
          <p:nvPr/>
        </p:nvSpPr>
        <p:spPr>
          <a:xfrm>
            <a:off x="7440217" y="1828800"/>
            <a:ext cx="2858925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_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7531657" y="1920240"/>
            <a:ext cx="2676045" cy="4023360"/>
          </a:xfr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4008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OneTownCity 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Contact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TRUST &amp; MODERATION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Every listing is reviewed before it goes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331720" cy="868680"/>
          </a:xfrm>
          <a:prstGeom prst="roundRect">
            <a:avLst>
              <a:gd name="adj" fmla="val 18000"/>
            </a:avLst>
          </a:prstGeom>
          <a:solidFill>
            <a:srgbClr val="14172A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965960"/>
            <a:ext cx="320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97316"/>
                </a:solidFill>
                <a:latin typeface="Segoe UI Semibol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65960"/>
            <a:ext cx="2331720" cy="868680"/>
          </a:xfrm>
          <a:prstGeom prst="roundRect">
            <a:avLst>
              <a:gd name="adj" fmla="val 18000"/>
            </a:avLst>
          </a:prstGeom>
          <a:solidFill>
            <a:srgbClr val="14172A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Pending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965960"/>
            <a:ext cx="320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97316"/>
                </a:solidFill>
                <a:latin typeface="Segoe UI Semibol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2331720" cy="868680"/>
          </a:xfrm>
          <a:prstGeom prst="roundRect">
            <a:avLst>
              <a:gd name="adj" fmla="val 18000"/>
            </a:avLst>
          </a:prstGeom>
          <a:solidFill>
            <a:srgbClr val="14172A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96596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Approved /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320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97316"/>
                </a:solidFill>
                <a:latin typeface="Segoe UI Semi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965960"/>
            <a:ext cx="2331720" cy="868680"/>
          </a:xfrm>
          <a:prstGeom prst="roundRect">
            <a:avLst>
              <a:gd name="adj" fmla="val 18000"/>
            </a:avLst>
          </a:prstGeom>
          <a:solidFill>
            <a:srgbClr val="14172A"/>
          </a:solidFill>
          <a:ln w="158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96596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Changes Requested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›  </a:t>
            </a:r>
            <a:r>
              <a:rPr sz="1350" b="1">
                <a:solidFill>
                  <a:srgbClr val="FFFFFF"/>
                </a:solidFill>
                <a:latin typeface="Segoe UI"/>
              </a:rPr>
              <a:t>Instant publish — </a:t>
            </a:r>
            <a:r>
              <a:rPr sz="1350">
                <a:solidFill>
                  <a:srgbClr val="CBD0DF"/>
                </a:solidFill>
                <a:latin typeface="Segoe UI"/>
              </a:rPr>
              <a:t>City Admin submissions go live immediately, since they carry full authority.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›  </a:t>
            </a:r>
            <a:r>
              <a:rPr sz="1350" b="1">
                <a:solidFill>
                  <a:srgbClr val="FFFFFF"/>
                </a:solidFill>
                <a:latin typeface="Segoe UI"/>
              </a:rPr>
              <a:t>Review queue — </a:t>
            </a:r>
            <a:r>
              <a:rPr sz="1350">
                <a:solidFill>
                  <a:srgbClr val="CBD0DF"/>
                </a:solidFill>
                <a:latin typeface="Segoe UI"/>
              </a:rPr>
              <a:t>Sub Admin and Content Provider submissions wait for the responsible admin.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›  </a:t>
            </a:r>
            <a:r>
              <a:rPr sz="1350" b="1">
                <a:solidFill>
                  <a:srgbClr val="FFFFFF"/>
                </a:solidFill>
                <a:latin typeface="Segoe UI"/>
              </a:rPr>
              <a:t>Full control — </a:t>
            </a:r>
            <a:r>
              <a:rPr sz="1350">
                <a:solidFill>
                  <a:srgbClr val="CBD0DF"/>
                </a:solidFill>
                <a:latin typeface="Segoe UI"/>
              </a:rPr>
              <a:t>reviewers can approve, reject with a reason, or request changes before resubmission.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›  </a:t>
            </a:r>
            <a:r>
              <a:rPr sz="1350" b="1">
                <a:solidFill>
                  <a:srgbClr val="FFFFFF"/>
                </a:solidFill>
                <a:latin typeface="Segoe UI"/>
              </a:rPr>
              <a:t>Accountability — </a:t>
            </a:r>
            <a:r>
              <a:rPr sz="1350">
                <a:solidFill>
                  <a:srgbClr val="CBD0DF"/>
                </a:solidFill>
                <a:latin typeface="Segoe UI"/>
              </a:rPr>
              <a:t>every listing keeps a record of who reviewed it and when.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2374" y="3154680"/>
            <a:ext cx="2006052" cy="3474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1_dashboard_pending_lis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8003814" y="3246120"/>
            <a:ext cx="1823172" cy="3291840"/>
          </a:xfr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6ABC0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NEW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2112" y="484632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0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 Semibold"/>
              </a:rPr>
              <a:t>Category request &amp; access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Self-service applications — </a:t>
            </a:r>
            <a:r>
              <a:rPr sz="1400">
                <a:solidFill>
                  <a:srgbClr val="CBD0DF"/>
                </a:solidFill>
                <a:latin typeface="Segoe UI"/>
              </a:rPr>
              <a:t>residents/businesses apply to list content in one or more categories.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Reviewed, not automatic — </a:t>
            </a:r>
            <a:r>
              <a:rPr sz="1400">
                <a:solidFill>
                  <a:srgbClr val="CBD0DF"/>
                </a:solidFill>
                <a:latin typeface="Segoe UI"/>
              </a:rPr>
              <a:t>every request is approved or rejected by an admin, with an optional note.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Scoped access — </a:t>
            </a:r>
            <a:r>
              <a:rPr sz="1400">
                <a:solidFill>
                  <a:srgbClr val="CBD0DF"/>
                </a:solidFill>
                <a:latin typeface="Segoe UI"/>
              </a:rPr>
              <a:t>approval grants access limited to exactly the categories requested.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Existing providers can expand — </a:t>
            </a:r>
            <a:r>
              <a:rPr sz="1400">
                <a:solidFill>
                  <a:srgbClr val="CBD0DF"/>
                </a:solidFill>
                <a:latin typeface="Segoe UI"/>
              </a:rPr>
              <a:t>approved Content Providers can request additional categories later, from their own dashboard.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New: </a:t>
            </a:r>
            <a:r>
              <a:rPr sz="1400">
                <a:solidFill>
                  <a:srgbClr val="CBD0DF"/>
                </a:solidFill>
                <a:latin typeface="Segoe UI"/>
              </a:rPr>
              <a:t>“What's Happening in Your Village” category, with its own request/approval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703213"/>
            <a:ext cx="5532120" cy="390877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2_dashboard_admin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6172200" y="1794653"/>
            <a:ext cx="5349240" cy="3725894"/>
          </a:xfr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NEW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2112" y="484632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0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 Semibold"/>
              </a:rP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 Semibold"/>
              </a:rPr>
              <a:t>Notifications keep everyone in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In-app notification bell — </a:t>
            </a:r>
            <a:r>
              <a:rPr sz="1400">
                <a:solidFill>
                  <a:srgbClr val="CBD0DF"/>
                </a:solidFill>
                <a:latin typeface="Segoe UI"/>
              </a:rPr>
              <a:t>for every signed-in user, with unread counts.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Admin dashboard alerts — </a:t>
            </a:r>
            <a:r>
              <a:rPr sz="1400">
                <a:solidFill>
                  <a:srgbClr val="CBD0DF"/>
                </a:solidFill>
                <a:latin typeface="Segoe UI"/>
              </a:rPr>
              <a:t>City Admins are notified the moment a new category request or listing needs review.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Browser/OS push — </a:t>
            </a:r>
            <a:r>
              <a:rPr sz="1400">
                <a:solidFill>
                  <a:srgbClr val="CBD0DF"/>
                </a:solidFill>
                <a:latin typeface="Segoe UI"/>
              </a:rPr>
              <a:t>Web Push notifications reach users even when the site isn't open.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Mark-as-read controls — </a:t>
            </a:r>
            <a:r>
              <a:rPr sz="1400">
                <a:solidFill>
                  <a:srgbClr val="CBD0DF"/>
                </a:solidFill>
                <a:latin typeface="Segoe UI"/>
              </a:rPr>
              <a:t>individually or all at once.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Faster turnaround — </a:t>
            </a:r>
            <a:r>
              <a:rPr sz="1400">
                <a:solidFill>
                  <a:srgbClr val="CBD0DF"/>
                </a:solidFill>
                <a:latin typeface="Segoe UI"/>
              </a:rPr>
              <a:t>requests no longer sit unnoticed in a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15320"/>
            <a:ext cx="5532120" cy="448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3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6172200" y="1506760"/>
            <a:ext cx="5349240" cy="4301680"/>
          </a:xfr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COMMUNITY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172A"/>
                </a:solidFill>
                <a:latin typeface="Segoe UI Semibold"/>
              </a:rPr>
              <a:t>Built to feel like a community, not a directory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3375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121408"/>
            <a:ext cx="82296" cy="3840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031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72A"/>
                </a:solidFill>
                <a:latin typeface="Segoe UI Semibold"/>
              </a:rPr>
              <a:t>Likes &amp; Comments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33472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7A"/>
                </a:solidFill>
                <a:latin typeface="Segoe UI"/>
              </a:rPr>
              <a:t>Residents react and discuss on any listing.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3375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121408"/>
            <a:ext cx="82296" cy="3840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72A"/>
                </a:solidFill>
                <a:latin typeface="Segoe UI Semibold"/>
              </a:rPr>
              <a:t>Ratings &amp;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33472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7A"/>
                </a:solidFill>
                <a:latin typeface="Segoe UI"/>
              </a:rPr>
              <a:t>Star ratings build trust in local businesses.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375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121408"/>
            <a:ext cx="82296" cy="3840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72A"/>
                </a:solidFill>
                <a:latin typeface="Segoe UI Semibold"/>
              </a:rPr>
              <a:t>Favorites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33472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7A"/>
                </a:solidFill>
                <a:latin typeface="Segoe UI"/>
              </a:rPr>
              <a:t>Save listings to revisit later, from “My Favorites”.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40480"/>
            <a:ext cx="33375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041648"/>
            <a:ext cx="82296" cy="3840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02336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72A"/>
                </a:solidFill>
                <a:latin typeface="Segoe UI Semibold"/>
              </a:rPr>
              <a:t>Social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53712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7A"/>
                </a:solidFill>
                <a:latin typeface="Segoe UI"/>
              </a:rPr>
              <a:t>One-tap share to WhatsApp, Facebook, Telegram, 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840480"/>
            <a:ext cx="33375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4041648"/>
            <a:ext cx="82296" cy="3840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72A"/>
                </a:solidFill>
                <a:latin typeface="Segoe UI Semibold"/>
              </a:rPr>
              <a:t>Content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53712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7A"/>
                </a:solidFill>
                <a:latin typeface="Segoe UI"/>
              </a:rPr>
              <a:t>Flag inappropriate listings for moderator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840480"/>
            <a:ext cx="33375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4041648"/>
            <a:ext cx="82296" cy="3840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02336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72A"/>
                </a:solidFill>
                <a:latin typeface="Segoe UI Semibold"/>
              </a:rPr>
              <a:t>Newsletter &amp; 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553712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7A"/>
                </a:solidFill>
                <a:latin typeface="Segoe UI"/>
              </a:rPr>
              <a:t>Stay subscribed, or reach the team directly.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 Semibold"/>
              </a:rPr>
              <a:t>A real-time Super 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At-a-glance metrics — </a:t>
            </a:r>
            <a:r>
              <a:rPr sz="1400">
                <a:solidFill>
                  <a:srgbClr val="CBD0DF"/>
                </a:solidFill>
                <a:latin typeface="Segoe UI"/>
              </a:rPr>
              <a:t>total listings, users, pending approvals and activity, live.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Role-aware views — </a:t>
            </a:r>
            <a:r>
              <a:rPr sz="1400">
                <a:solidFill>
                  <a:srgbClr val="CBD0DF"/>
                </a:solidFill>
                <a:latin typeface="Segoe UI"/>
              </a:rPr>
              <a:t>Super Admin, City Admin, Sub Admin and Content Provider each see a dashboard scoped to their authority.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Engagement analytics — </a:t>
            </a:r>
            <a:r>
              <a:rPr sz="1400">
                <a:solidFill>
                  <a:srgbClr val="CBD0DF"/>
                </a:solidFill>
                <a:latin typeface="Segoe UI"/>
              </a:rPr>
              <a:t>views, likes, comments and shares per listing, over time — built from real event logs, not estimates.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City-ready — </a:t>
            </a:r>
            <a:r>
              <a:rPr sz="1400">
                <a:solidFill>
                  <a:srgbClr val="CBD0DF"/>
                </a:solidFill>
                <a:latin typeface="Segoe UI"/>
              </a:rPr>
              <a:t>scoping is built in, so onboarding additional towns is structural, not a rewrite.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9509" y="777240"/>
            <a:ext cx="4274622" cy="5760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6800949" y="868680"/>
            <a:ext cx="4091742" cy="5577840"/>
          </a:xfr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172A"/>
                </a:solidFill>
                <a:latin typeface="Segoe UI Semibold"/>
              </a:rPr>
              <a:t>Fine-grained user &amp; role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E4258"/>
                </a:solidFill>
                <a:latin typeface="Segoe UI"/>
              </a:rPr>
              <a:t>Every account, role and permission lives in one place — with a full capability matrix per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9243" y="1828800"/>
            <a:ext cx="2496633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4_dashboard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2180683" y="1920240"/>
            <a:ext cx="2313753" cy="4023360"/>
          </a:xfrm>
          <a:ln>
            <a:noFill/>
          </a:ln>
        </p:spPr>
      </p:pic>
      <p:sp>
        <p:nvSpPr>
          <p:cNvPr id="9" name="Rounded Rectangle 8"/>
          <p:cNvSpPr/>
          <p:nvPr/>
        </p:nvSpPr>
        <p:spPr>
          <a:xfrm>
            <a:off x="7664079" y="1828800"/>
            <a:ext cx="2411202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8_dashboard_roles_permi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7755519" y="1920240"/>
            <a:ext cx="2228322" cy="4023360"/>
          </a:xfr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4008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Manage Users — search, filter, export, moderate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6172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3E4258"/>
                </a:solidFill>
                <a:latin typeface="Segoe UI"/>
              </a:rPr>
              <a:t>Roles &amp; Permissions matrix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DELEGATED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 Semibold"/>
              </a:rPr>
              <a:t>Authority that scales down cleanly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BD0DF"/>
                </a:solidFill>
                <a:latin typeface="Segoe UI"/>
              </a:rPr>
              <a:t>City Admins delegate exactly what's needed — a category, a listing type, or a permission — to the people who need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7316"/>
                </a:solidFill>
                <a:latin typeface="Segoe UI Semibold"/>
              </a:rPr>
              <a:t>City Admins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42895"/>
            <a:ext cx="3520440" cy="231521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6_dashboard_city_adm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822960" y="2934335"/>
            <a:ext cx="3337560" cy="2132330"/>
          </a:xfr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822960" y="56235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BD0DF"/>
                </a:solidFill>
                <a:latin typeface="Segoe UI"/>
              </a:rPr>
              <a:t>Full authority over one 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7316"/>
                </a:solidFill>
                <a:latin typeface="Segoe UI Semibold"/>
              </a:rPr>
              <a:t>Sub Admins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42895"/>
            <a:ext cx="3520440" cy="231521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7_dashboard_sub_adm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4434840" y="2934335"/>
            <a:ext cx="3337560" cy="2132330"/>
          </a:xfr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4434840" y="56235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BD0DF"/>
                </a:solidFill>
                <a:latin typeface="Segoe UI"/>
              </a:rPr>
              <a:t>Scoped rights per listing type, via a permission matrix.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488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7316"/>
                </a:solidFill>
                <a:latin typeface="Segoe UI Semibold"/>
              </a:rPr>
              <a:t>Content Providers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842895"/>
            <a:ext cx="3520440" cy="231521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25_dashboard_content_prov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8046720" y="2934335"/>
            <a:ext cx="3337560" cy="2132330"/>
          </a:xfrm>
          <a:ln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8046720" y="562356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BD0DF"/>
                </a:solidFill>
                <a:latin typeface="Segoe UI"/>
              </a:rPr>
              <a:t>Businesses/residents approved for specific categories.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6ABC0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CONTENT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 Semibold"/>
              </a:rPr>
              <a:t>One screen to manage every listing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Cross-model management — </a:t>
            </a:r>
            <a:r>
              <a:rPr sz="1400">
                <a:solidFill>
                  <a:srgbClr val="CBD0DF"/>
                </a:solidFill>
                <a:latin typeface="Segoe UI"/>
              </a:rPr>
              <a:t>Business, Property, Job, Event, News and Project listings, unified in one table.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Bulk actions — </a:t>
            </a:r>
            <a:r>
              <a:rPr sz="1400">
                <a:solidFill>
                  <a:srgbClr val="CBD0DF"/>
                </a:solidFill>
                <a:latin typeface="Segoe UI"/>
              </a:rPr>
              <a:t>activate, feature, or remove listings in bulk.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Media control — </a:t>
            </a:r>
            <a:r>
              <a:rPr sz="1400">
                <a:solidFill>
                  <a:srgbClr val="CBD0DF"/>
                </a:solidFill>
                <a:latin typeface="Segoe UI"/>
              </a:rPr>
              <a:t>add/remove images and videos, set a cover image, per listing.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Export — </a:t>
            </a:r>
            <a:r>
              <a:rPr sz="1400">
                <a:solidFill>
                  <a:srgbClr val="CBD0DF"/>
                </a:solidFill>
                <a:latin typeface="Segoe UI"/>
              </a:rPr>
              <a:t>download the full listing set to Excel or PDF for offline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50053" y="777240"/>
            <a:ext cx="3593533" cy="5760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9_dashboard_p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7141493" y="868680"/>
            <a:ext cx="3410653" cy="5577840"/>
          </a:xfr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ADMIN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4172A"/>
                </a:solidFill>
                <a:latin typeface="Segoe UI Semibold"/>
              </a:rPr>
              <a:t>Bulk content seeding via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14172A"/>
                </a:solidFill>
                <a:latin typeface="Segoe UI"/>
              </a:rPr>
              <a:t>Fast onboarding — </a:t>
            </a:r>
            <a:r>
              <a:rPr sz="1400">
                <a:solidFill>
                  <a:srgbClr val="3E4258"/>
                </a:solidFill>
                <a:latin typeface="Segoe UI"/>
              </a:rPr>
              <a:t>seed dozens of listings at once from a spreadsheet, per listing type.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14172A"/>
                </a:solidFill>
                <a:latin typeface="Segoe UI"/>
              </a:rPr>
              <a:t>Sample templates — </a:t>
            </a:r>
            <a:r>
              <a:rPr sz="1400">
                <a:solidFill>
                  <a:srgbClr val="3E4258"/>
                </a:solidFill>
                <a:latin typeface="Segoe UI"/>
              </a:rPr>
              <a:t>downloadable sample files show the exact expected column format.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14172A"/>
                </a:solidFill>
                <a:latin typeface="Segoe UI"/>
              </a:rPr>
              <a:t>Ownership-aware — </a:t>
            </a:r>
            <a:r>
              <a:rPr sz="1400">
                <a:solidFill>
                  <a:srgbClr val="3E4258"/>
                </a:solidFill>
                <a:latin typeface="Segoe UI"/>
              </a:rPr>
              <a:t>Content Provider uploads are attributed and enter the approval queue; staff uploads publish directly.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14172A"/>
                </a:solidFill>
                <a:latin typeface="Segoe UI"/>
              </a:rPr>
              <a:t>Built on pandas/openpyxl — </a:t>
            </a:r>
            <a:r>
              <a:rPr sz="1400">
                <a:solidFill>
                  <a:srgbClr val="3E4258"/>
                </a:solidFill>
                <a:latin typeface="Segoe UI"/>
              </a:rPr>
              <a:t>reliable parsing with clear per-row error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6299" y="777240"/>
            <a:ext cx="4961041" cy="5760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4_uploads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6457739" y="868680"/>
            <a:ext cx="4778161" cy="5577840"/>
          </a:xfr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A6ABC0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 Semibold"/>
              </a:rPr>
              <a:t>REACH &amp;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Segoe UI Semibold"/>
              </a:rPr>
              <a:t>Built for every resident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Multi-language interface — </a:t>
            </a:r>
            <a:r>
              <a:rPr sz="1400">
                <a:solidFill>
                  <a:srgbClr val="CBD0DF"/>
                </a:solidFill>
                <a:latin typeface="Segoe UI"/>
              </a:rPr>
              <a:t>Hindi, Tamil, Telugu and Kannada, alongside English.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Google Sign-In — </a:t>
            </a:r>
            <a:r>
              <a:rPr sz="1400">
                <a:solidFill>
                  <a:srgbClr val="CBD0DF"/>
                </a:solidFill>
                <a:latin typeface="Segoe UI"/>
              </a:rPr>
              <a:t>quick, secure access with no password to remember.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Mobile-first, responsive — </a:t>
            </a:r>
            <a:r>
              <a:rPr sz="1400">
                <a:solidFill>
                  <a:srgbClr val="CBD0DF"/>
                </a:solidFill>
                <a:latin typeface="Segoe UI"/>
              </a:rPr>
              <a:t>designed for the phone-first way most residents will use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F97316"/>
                </a:solidFill>
                <a:latin typeface="Segoe UI"/>
              </a:rPr>
              <a:t>›  </a:t>
            </a:r>
            <a:r>
              <a:rPr sz="1400" b="1">
                <a:solidFill>
                  <a:srgbClr val="FFFFFF"/>
                </a:solidFill>
                <a:latin typeface="Segoe UI"/>
              </a:rPr>
              <a:t>Centralized inbox — </a:t>
            </a:r>
            <a:r>
              <a:rPr sz="1400">
                <a:solidFill>
                  <a:srgbClr val="CBD0DF"/>
                </a:solidFill>
                <a:latin typeface="Segoe UI"/>
              </a:rPr>
              <a:t>every contact-form submission lands in one filterable admin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91610" y="777240"/>
            <a:ext cx="4910419" cy="5760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0_dashboard_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prstGeom prst="roundRect">
            <a:avLst>
              <a:gd name="adj" fmla="val 4500"/>
            </a:avLst>
          </a:prstGeom>
          <a:xfrm>
            <a:off x="6483050" y="868680"/>
            <a:ext cx="4727539" cy="5577840"/>
          </a:xfr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580C"/>
                </a:solidFill>
                <a:latin typeface="Segoe UI Semibold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172A"/>
                </a:solidFill>
                <a:latin typeface="Segoe UI Semibold"/>
              </a:rPr>
              <a:t>A modern, reliable, widely-supported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2199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Django 5.1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Python web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6596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2199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072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via Supabase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2199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Supabase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072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cloud media hosting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96596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22199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Supabase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8072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Google Sign-In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60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136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Bootstrap 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98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responsive frontend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65760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9136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Web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98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browser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65760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9136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pandas + openpyxl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498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Excel import/export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365760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3913632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172A"/>
                </a:solidFill>
                <a:latin typeface="Segoe UI Semibold"/>
              </a:rPr>
              <a:t>Gunicorn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498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07A"/>
                </a:solidFill>
                <a:latin typeface="Segoe UI"/>
              </a:rPr>
              <a:t>production WSGI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07A"/>
                </a:solidFill>
                <a:latin typeface="Segoe UI"/>
              </a:rPr>
              <a:t>Deployment-ready for standard cloud hosting (Render, Railway) with static files served by WhiteNoise and configuration kept out of the codebase for secure deployment anywhere.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8FA3"/>
                </a:solidFill>
                <a:latin typeface="Segoe UI"/>
              </a:rPr>
              <a:t>OneTownCity  ·  Powered by CraftLanee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-201168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4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BD0DF"/>
                </a:solidFill>
                <a:latin typeface="Segoe UI"/>
              </a:rPr>
              <a:t>Ready for review, feedback, and next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28016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CraftLanee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6ABC0"/>
                </a:solidFill>
                <a:latin typeface="Segoe UI"/>
              </a:rPr>
              <a:t>director@craftlanee.com   ·   +91 63014 69575   ·   craftlanee.com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